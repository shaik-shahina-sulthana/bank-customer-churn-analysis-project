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8" r:id="rId4"/>
  </p:sldMasterIdLst>
  <p:notesMasterIdLst>
    <p:notesMasterId r:id="rId41"/>
  </p:notesMasterIdLst>
  <p:handoutMasterIdLst>
    <p:handoutMasterId r:id="rId42"/>
  </p:handoutMasterIdLst>
  <p:sldIdLst>
    <p:sldId id="256" r:id="rId5"/>
    <p:sldId id="266" r:id="rId6"/>
    <p:sldId id="267" r:id="rId7"/>
    <p:sldId id="268" r:id="rId8"/>
    <p:sldId id="298" r:id="rId9"/>
    <p:sldId id="299" r:id="rId10"/>
    <p:sldId id="300" r:id="rId11"/>
    <p:sldId id="271" r:id="rId12"/>
    <p:sldId id="272" r:id="rId13"/>
    <p:sldId id="301" r:id="rId14"/>
    <p:sldId id="305" r:id="rId15"/>
    <p:sldId id="274" r:id="rId16"/>
    <p:sldId id="275" r:id="rId17"/>
    <p:sldId id="306" r:id="rId18"/>
    <p:sldId id="276" r:id="rId19"/>
    <p:sldId id="294" r:id="rId20"/>
    <p:sldId id="278" r:id="rId21"/>
    <p:sldId id="279" r:id="rId22"/>
    <p:sldId id="280" r:id="rId23"/>
    <p:sldId id="281" r:id="rId24"/>
    <p:sldId id="304" r:id="rId25"/>
    <p:sldId id="282" r:id="rId26"/>
    <p:sldId id="283" r:id="rId27"/>
    <p:sldId id="307" r:id="rId28"/>
    <p:sldId id="285" r:id="rId29"/>
    <p:sldId id="302" r:id="rId30"/>
    <p:sldId id="287" r:id="rId31"/>
    <p:sldId id="288" r:id="rId32"/>
    <p:sldId id="308" r:id="rId33"/>
    <p:sldId id="290" r:id="rId34"/>
    <p:sldId id="303" r:id="rId35"/>
    <p:sldId id="292" r:id="rId36"/>
    <p:sldId id="269" r:id="rId37"/>
    <p:sldId id="270" r:id="rId38"/>
    <p:sldId id="309" r:id="rId39"/>
    <p:sldId id="310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5" autoAdjust="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F1CF908-B9F8-4D75-9563-AB61F9135D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DEC0F2-C9ED-4E40-9090-1AABA509E02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B24071-69B2-40A7-B3EA-674584CE017F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43BCB-1A9C-419E-A510-1B43D44FD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2ECDCF-FA4F-4A45-8FAD-9C923EE306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DA0F0C-BE24-43A8-A6ED-60EC67C28C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089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16B909-20DD-493C-AC6E-6A09AF3AE40E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A3186-490C-4963-9CE5-58096C2F0B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06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BA3186-490C-4963-9CE5-58096C2F0BE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789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BA3186-490C-4963-9CE5-58096C2F0BE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66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237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532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907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860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033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768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665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7403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800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239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955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802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0684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9454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528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66672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015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650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jpeg"/><Relationship Id="rId9" Type="http://schemas.openxmlformats.org/officeDocument/2006/relationships/image" Target="../media/image11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ocky beach&#10;&#10;">
            <a:extLst>
              <a:ext uri="{FF2B5EF4-FFF2-40B4-BE49-F238E27FC236}">
                <a16:creationId xmlns:a16="http://schemas.microsoft.com/office/drawing/2014/main" id="{1D741830-4E4E-4CA5-B92A-047E598CB2C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-248345"/>
            <a:ext cx="12191980" cy="685799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F41A68A-8CD1-4105-B4EC-A56286CB0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02616" y="1411015"/>
            <a:ext cx="7808159" cy="4103960"/>
            <a:chOff x="2202616" y="1411015"/>
            <a:chExt cx="7808159" cy="4103960"/>
          </a:xfrm>
        </p:grpSpPr>
        <p:sp>
          <p:nvSpPr>
            <p:cNvPr id="11" name="Freeform 16">
              <a:extLst>
                <a:ext uri="{FF2B5EF4-FFF2-40B4-BE49-F238E27FC236}">
                  <a16:creationId xmlns:a16="http://schemas.microsoft.com/office/drawing/2014/main" id="{7B955F46-02E4-4A82-96F5-CBAFDD4A74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02616" y="1411015"/>
              <a:ext cx="7808159" cy="4103960"/>
            </a:xfrm>
            <a:custGeom>
              <a:avLst/>
              <a:gdLst>
                <a:gd name="connsiteX0" fmla="*/ 7589084 w 7808159"/>
                <a:gd name="connsiteY0" fmla="*/ 3803605 h 4103960"/>
                <a:gd name="connsiteX1" fmla="*/ 7512884 w 7808159"/>
                <a:gd name="connsiteY1" fmla="*/ 3879805 h 4103960"/>
                <a:gd name="connsiteX2" fmla="*/ 7589084 w 7808159"/>
                <a:gd name="connsiteY2" fmla="*/ 3956005 h 4103960"/>
                <a:gd name="connsiteX3" fmla="*/ 7665284 w 7808159"/>
                <a:gd name="connsiteY3" fmla="*/ 3879805 h 4103960"/>
                <a:gd name="connsiteX4" fmla="*/ 7589084 w 7808159"/>
                <a:gd name="connsiteY4" fmla="*/ 3803605 h 4103960"/>
                <a:gd name="connsiteX5" fmla="*/ 197684 w 7808159"/>
                <a:gd name="connsiteY5" fmla="*/ 3803605 h 4103960"/>
                <a:gd name="connsiteX6" fmla="*/ 121484 w 7808159"/>
                <a:gd name="connsiteY6" fmla="*/ 3879805 h 4103960"/>
                <a:gd name="connsiteX7" fmla="*/ 197684 w 7808159"/>
                <a:gd name="connsiteY7" fmla="*/ 3956005 h 4103960"/>
                <a:gd name="connsiteX8" fmla="*/ 273884 w 7808159"/>
                <a:gd name="connsiteY8" fmla="*/ 3879805 h 4103960"/>
                <a:gd name="connsiteX9" fmla="*/ 197684 w 7808159"/>
                <a:gd name="connsiteY9" fmla="*/ 3803605 h 4103960"/>
                <a:gd name="connsiteX10" fmla="*/ 7604324 w 7808159"/>
                <a:gd name="connsiteY10" fmla="*/ 130765 h 4103960"/>
                <a:gd name="connsiteX11" fmla="*/ 7528124 w 7808159"/>
                <a:gd name="connsiteY11" fmla="*/ 206965 h 4103960"/>
                <a:gd name="connsiteX12" fmla="*/ 7604324 w 7808159"/>
                <a:gd name="connsiteY12" fmla="*/ 283165 h 4103960"/>
                <a:gd name="connsiteX13" fmla="*/ 7680524 w 7808159"/>
                <a:gd name="connsiteY13" fmla="*/ 206965 h 4103960"/>
                <a:gd name="connsiteX14" fmla="*/ 7604324 w 7808159"/>
                <a:gd name="connsiteY14" fmla="*/ 130765 h 4103960"/>
                <a:gd name="connsiteX15" fmla="*/ 197684 w 7808159"/>
                <a:gd name="connsiteY15" fmla="*/ 130765 h 4103960"/>
                <a:gd name="connsiteX16" fmla="*/ 121484 w 7808159"/>
                <a:gd name="connsiteY16" fmla="*/ 206965 h 4103960"/>
                <a:gd name="connsiteX17" fmla="*/ 197684 w 7808159"/>
                <a:gd name="connsiteY17" fmla="*/ 283165 h 4103960"/>
                <a:gd name="connsiteX18" fmla="*/ 273884 w 7808159"/>
                <a:gd name="connsiteY18" fmla="*/ 206965 h 4103960"/>
                <a:gd name="connsiteX19" fmla="*/ 197684 w 7808159"/>
                <a:gd name="connsiteY19" fmla="*/ 130765 h 4103960"/>
                <a:gd name="connsiteX20" fmla="*/ 0 w 7808159"/>
                <a:gd name="connsiteY20" fmla="*/ 0 h 4103960"/>
                <a:gd name="connsiteX21" fmla="*/ 7808159 w 7808159"/>
                <a:gd name="connsiteY21" fmla="*/ 0 h 4103960"/>
                <a:gd name="connsiteX22" fmla="*/ 7808159 w 7808159"/>
                <a:gd name="connsiteY22" fmla="*/ 4103960 h 4103960"/>
                <a:gd name="connsiteX23" fmla="*/ 0 w 7808159"/>
                <a:gd name="connsiteY23" fmla="*/ 4103960 h 410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808159" h="4103960">
                  <a:moveTo>
                    <a:pt x="7589084" y="3803605"/>
                  </a:moveTo>
                  <a:cubicBezTo>
                    <a:pt x="7547000" y="3803605"/>
                    <a:pt x="7512884" y="3837721"/>
                    <a:pt x="7512884" y="3879805"/>
                  </a:cubicBezTo>
                  <a:cubicBezTo>
                    <a:pt x="7512884" y="3921889"/>
                    <a:pt x="7547000" y="3956005"/>
                    <a:pt x="7589084" y="3956005"/>
                  </a:cubicBezTo>
                  <a:cubicBezTo>
                    <a:pt x="7631168" y="3956005"/>
                    <a:pt x="7665284" y="3921889"/>
                    <a:pt x="7665284" y="3879805"/>
                  </a:cubicBezTo>
                  <a:cubicBezTo>
                    <a:pt x="7665284" y="3837721"/>
                    <a:pt x="7631168" y="3803605"/>
                    <a:pt x="7589084" y="3803605"/>
                  </a:cubicBezTo>
                  <a:close/>
                  <a:moveTo>
                    <a:pt x="197684" y="3803605"/>
                  </a:moveTo>
                  <a:cubicBezTo>
                    <a:pt x="155600" y="3803605"/>
                    <a:pt x="121484" y="3837721"/>
                    <a:pt x="121484" y="3879805"/>
                  </a:cubicBezTo>
                  <a:cubicBezTo>
                    <a:pt x="121484" y="3921889"/>
                    <a:pt x="155600" y="3956005"/>
                    <a:pt x="197684" y="3956005"/>
                  </a:cubicBezTo>
                  <a:cubicBezTo>
                    <a:pt x="239768" y="3956005"/>
                    <a:pt x="273884" y="3921889"/>
                    <a:pt x="273884" y="3879805"/>
                  </a:cubicBezTo>
                  <a:cubicBezTo>
                    <a:pt x="273884" y="3837721"/>
                    <a:pt x="239768" y="3803605"/>
                    <a:pt x="197684" y="3803605"/>
                  </a:cubicBezTo>
                  <a:close/>
                  <a:moveTo>
                    <a:pt x="7604324" y="130765"/>
                  </a:moveTo>
                  <a:cubicBezTo>
                    <a:pt x="7562240" y="130765"/>
                    <a:pt x="7528124" y="164881"/>
                    <a:pt x="7528124" y="206965"/>
                  </a:cubicBezTo>
                  <a:cubicBezTo>
                    <a:pt x="7528124" y="249049"/>
                    <a:pt x="7562240" y="283165"/>
                    <a:pt x="7604324" y="283165"/>
                  </a:cubicBezTo>
                  <a:cubicBezTo>
                    <a:pt x="7646408" y="283165"/>
                    <a:pt x="7680524" y="249049"/>
                    <a:pt x="7680524" y="206965"/>
                  </a:cubicBezTo>
                  <a:cubicBezTo>
                    <a:pt x="7680524" y="164881"/>
                    <a:pt x="7646408" y="130765"/>
                    <a:pt x="7604324" y="130765"/>
                  </a:cubicBezTo>
                  <a:close/>
                  <a:moveTo>
                    <a:pt x="197684" y="130765"/>
                  </a:moveTo>
                  <a:cubicBezTo>
                    <a:pt x="155600" y="130765"/>
                    <a:pt x="121484" y="164881"/>
                    <a:pt x="121484" y="206965"/>
                  </a:cubicBezTo>
                  <a:cubicBezTo>
                    <a:pt x="121484" y="249049"/>
                    <a:pt x="155600" y="283165"/>
                    <a:pt x="197684" y="283165"/>
                  </a:cubicBezTo>
                  <a:cubicBezTo>
                    <a:pt x="239768" y="283165"/>
                    <a:pt x="273884" y="249049"/>
                    <a:pt x="273884" y="206965"/>
                  </a:cubicBezTo>
                  <a:cubicBezTo>
                    <a:pt x="273884" y="164881"/>
                    <a:pt x="239768" y="130765"/>
                    <a:pt x="197684" y="130765"/>
                  </a:cubicBezTo>
                  <a:close/>
                  <a:moveTo>
                    <a:pt x="0" y="0"/>
                  </a:moveTo>
                  <a:lnTo>
                    <a:pt x="7808159" y="0"/>
                  </a:lnTo>
                  <a:lnTo>
                    <a:pt x="7808159" y="4103960"/>
                  </a:lnTo>
                  <a:lnTo>
                    <a:pt x="0" y="4103960"/>
                  </a:lnTo>
                  <a:close/>
                </a:path>
              </a:pathLst>
            </a:custGeom>
            <a:blipFill dpi="0" rotWithShape="1">
              <a:blip r:embed="rId5">
                <a:alphaModFix amt="83000"/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90000" sy="100000" flip="none" algn="ctr"/>
            </a:blipFill>
            <a:ln>
              <a:noFill/>
            </a:ln>
            <a:effectLst>
              <a:outerShdw blurRad="114300" dist="127000" dir="5400000" sx="99000" sy="99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woPt" dir="t"/>
            </a:scene3d>
            <a:sp3d contourW="6350">
              <a:bevelT w="12700" h="0" prst="coolSlant"/>
              <a:contourClr>
                <a:schemeClr val="bg2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79775EF-026C-4E4A-873B-185915FB4F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2278995" y="1501257"/>
              <a:ext cx="7645811" cy="3928374"/>
              <a:chOff x="2278995" y="1501257"/>
              <a:chExt cx="7645811" cy="3928374"/>
            </a:xfrm>
          </p:grpSpPr>
          <p:sp>
            <p:nvSpPr>
              <p:cNvPr id="13" name="Donut 19">
                <a:extLst>
                  <a:ext uri="{FF2B5EF4-FFF2-40B4-BE49-F238E27FC236}">
                    <a16:creationId xmlns:a16="http://schemas.microsoft.com/office/drawing/2014/main" id="{400D0967-F02F-4275-8520-75D52A1DF6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9677918" y="1501257"/>
                <a:ext cx="246888" cy="246888"/>
              </a:xfrm>
              <a:prstGeom prst="donut">
                <a:avLst>
                  <a:gd name="adj" fmla="val 26304"/>
                </a:avLst>
              </a:prstGeom>
              <a:gradFill>
                <a:gsLst>
                  <a:gs pos="20000">
                    <a:srgbClr val="949494"/>
                  </a:gs>
                  <a:gs pos="30000">
                    <a:srgbClr val="B2B2B2"/>
                  </a:gs>
                  <a:gs pos="51000">
                    <a:srgbClr val="E0DEDE">
                      <a:lumMod val="92000"/>
                    </a:srgbClr>
                  </a:gs>
                  <a:gs pos="8000">
                    <a:schemeClr val="bg1">
                      <a:lumMod val="41000"/>
                      <a:lumOff val="59000"/>
                    </a:schemeClr>
                  </a:gs>
                  <a:gs pos="89000">
                    <a:srgbClr val="7A7A7A"/>
                  </a:gs>
                </a:gsLst>
                <a:lin ang="3600000" scaled="0"/>
              </a:gradFill>
              <a:ln>
                <a:noFill/>
              </a:ln>
              <a:effectLst>
                <a:outerShdw blurRad="63500" sx="101000" sy="101000" algn="ctr" rotWithShape="0">
                  <a:prstClr val="black">
                    <a:alpha val="48000"/>
                  </a:prstClr>
                </a:outerShdw>
              </a:effectLst>
              <a:scene3d>
                <a:camera prst="orthographicFront"/>
                <a:lightRig rig="threePt" dir="t">
                  <a:rot lat="0" lon="0" rev="21360000"/>
                </a:lightRig>
              </a:scene3d>
              <a:sp3d>
                <a:bevelT w="19050" h="31750"/>
                <a:contourClr>
                  <a:srgbClr val="F1F1F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Donut 21">
                <a:extLst>
                  <a:ext uri="{FF2B5EF4-FFF2-40B4-BE49-F238E27FC236}">
                    <a16:creationId xmlns:a16="http://schemas.microsoft.com/office/drawing/2014/main" id="{B4B16BA1-0F90-43DD-9D6C-6F196A15A3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9673719" y="5174722"/>
                <a:ext cx="246888" cy="246888"/>
              </a:xfrm>
              <a:prstGeom prst="donut">
                <a:avLst>
                  <a:gd name="adj" fmla="val 26304"/>
                </a:avLst>
              </a:prstGeom>
              <a:gradFill>
                <a:gsLst>
                  <a:gs pos="20000">
                    <a:srgbClr val="949494"/>
                  </a:gs>
                  <a:gs pos="30000">
                    <a:srgbClr val="B2B2B2"/>
                  </a:gs>
                  <a:gs pos="51000">
                    <a:srgbClr val="E0DEDE">
                      <a:lumMod val="92000"/>
                    </a:srgbClr>
                  </a:gs>
                  <a:gs pos="8000">
                    <a:schemeClr val="bg1">
                      <a:lumMod val="41000"/>
                      <a:lumOff val="59000"/>
                    </a:schemeClr>
                  </a:gs>
                  <a:gs pos="89000">
                    <a:srgbClr val="7A7A7A"/>
                  </a:gs>
                </a:gsLst>
                <a:lin ang="3600000" scaled="0"/>
              </a:gradFill>
              <a:ln>
                <a:noFill/>
              </a:ln>
              <a:effectLst>
                <a:outerShdw blurRad="63500" sx="101000" sy="101000" algn="ctr" rotWithShape="0">
                  <a:prstClr val="black">
                    <a:alpha val="48000"/>
                  </a:prstClr>
                </a:outerShdw>
              </a:effectLst>
              <a:scene3d>
                <a:camera prst="orthographicFront"/>
                <a:lightRig rig="threePt" dir="t">
                  <a:rot lat="0" lon="0" rev="21360000"/>
                </a:lightRig>
              </a:scene3d>
              <a:sp3d>
                <a:bevelT w="19050" h="31750"/>
                <a:contourClr>
                  <a:srgbClr val="F1F1F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Donut 22">
                <a:extLst>
                  <a:ext uri="{FF2B5EF4-FFF2-40B4-BE49-F238E27FC236}">
                    <a16:creationId xmlns:a16="http://schemas.microsoft.com/office/drawing/2014/main" id="{7B652CBC-3D51-4C0E-8DDE-2C4A49B387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278995" y="1501257"/>
                <a:ext cx="246888" cy="246888"/>
              </a:xfrm>
              <a:prstGeom prst="donut">
                <a:avLst>
                  <a:gd name="adj" fmla="val 26304"/>
                </a:avLst>
              </a:prstGeom>
              <a:gradFill>
                <a:gsLst>
                  <a:gs pos="20000">
                    <a:srgbClr val="949494"/>
                  </a:gs>
                  <a:gs pos="30000">
                    <a:srgbClr val="B2B2B2"/>
                  </a:gs>
                  <a:gs pos="51000">
                    <a:srgbClr val="E0DEDE">
                      <a:lumMod val="92000"/>
                    </a:srgbClr>
                  </a:gs>
                  <a:gs pos="8000">
                    <a:schemeClr val="bg1">
                      <a:lumMod val="41000"/>
                      <a:lumOff val="59000"/>
                    </a:schemeClr>
                  </a:gs>
                  <a:gs pos="89000">
                    <a:srgbClr val="7A7A7A"/>
                  </a:gs>
                </a:gsLst>
                <a:lin ang="3600000" scaled="0"/>
              </a:gradFill>
              <a:ln>
                <a:noFill/>
              </a:ln>
              <a:effectLst>
                <a:outerShdw blurRad="63500" sx="101000" sy="101000" algn="ctr" rotWithShape="0">
                  <a:prstClr val="black">
                    <a:alpha val="48000"/>
                  </a:prstClr>
                </a:outerShdw>
              </a:effectLst>
              <a:scene3d>
                <a:camera prst="orthographicFront"/>
                <a:lightRig rig="threePt" dir="t">
                  <a:rot lat="0" lon="0" rev="21360000"/>
                </a:lightRig>
              </a:scene3d>
              <a:sp3d>
                <a:bevelT w="19050" h="31750"/>
                <a:contourClr>
                  <a:srgbClr val="F1F1F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Donut 23">
                <a:extLst>
                  <a:ext uri="{FF2B5EF4-FFF2-40B4-BE49-F238E27FC236}">
                    <a16:creationId xmlns:a16="http://schemas.microsoft.com/office/drawing/2014/main" id="{3AFF0419-6554-4FDD-93AB-8A8C45FF5B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278995" y="5182743"/>
                <a:ext cx="246888" cy="246888"/>
              </a:xfrm>
              <a:prstGeom prst="donut">
                <a:avLst>
                  <a:gd name="adj" fmla="val 26304"/>
                </a:avLst>
              </a:prstGeom>
              <a:gradFill>
                <a:gsLst>
                  <a:gs pos="20000">
                    <a:srgbClr val="949494"/>
                  </a:gs>
                  <a:gs pos="30000">
                    <a:srgbClr val="B2B2B2"/>
                  </a:gs>
                  <a:gs pos="51000">
                    <a:srgbClr val="E0DEDE">
                      <a:lumMod val="92000"/>
                    </a:srgbClr>
                  </a:gs>
                  <a:gs pos="8000">
                    <a:schemeClr val="bg1">
                      <a:lumMod val="41000"/>
                      <a:lumOff val="59000"/>
                    </a:schemeClr>
                  </a:gs>
                  <a:gs pos="89000">
                    <a:srgbClr val="7A7A7A"/>
                  </a:gs>
                </a:gsLst>
                <a:lin ang="3600000" scaled="0"/>
              </a:gradFill>
              <a:ln>
                <a:noFill/>
              </a:ln>
              <a:effectLst>
                <a:outerShdw blurRad="63500" sx="101000" sy="101000" algn="ctr" rotWithShape="0">
                  <a:prstClr val="black">
                    <a:alpha val="48000"/>
                  </a:prstClr>
                </a:outerShdw>
              </a:effectLst>
              <a:scene3d>
                <a:camera prst="orthographicFront"/>
                <a:lightRig rig="threePt" dir="t">
                  <a:rot lat="0" lon="0" rev="21360000"/>
                </a:lightRig>
              </a:scene3d>
              <a:sp3d>
                <a:bevelT w="19050" h="31750"/>
                <a:contourClr>
                  <a:srgbClr val="F1F1F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310D7E-8F1E-4C2F-8824-E43E043DD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Palm tree">
            <a:extLst>
              <a:ext uri="{FF2B5EF4-FFF2-40B4-BE49-F238E27FC236}">
                <a16:creationId xmlns:a16="http://schemas.microsoft.com/office/drawing/2014/main" id="{5A75EE0A-53B5-4719-9CB7-5387E99D98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80409" y="1629189"/>
            <a:ext cx="914400" cy="914400"/>
          </a:xfrm>
          <a:prstGeom prst="rect">
            <a:avLst/>
          </a:prstGeom>
        </p:spPr>
      </p:pic>
      <p:pic>
        <p:nvPicPr>
          <p:cNvPr id="17" name="Graphic 16" descr="Beach ball">
            <a:extLst>
              <a:ext uri="{FF2B5EF4-FFF2-40B4-BE49-F238E27FC236}">
                <a16:creationId xmlns:a16="http://schemas.microsoft.com/office/drawing/2014/main" id="{48F21C9B-2A2B-49E0-A15C-401F0E8DE9C1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48889" y="1993669"/>
            <a:ext cx="548640" cy="548640"/>
          </a:xfrm>
          <a:prstGeom prst="rect">
            <a:avLst/>
          </a:prstGeom>
        </p:spPr>
      </p:pic>
      <p:pic>
        <p:nvPicPr>
          <p:cNvPr id="20" name="Graphic 19" descr="Bucket and shovel">
            <a:extLst>
              <a:ext uri="{FF2B5EF4-FFF2-40B4-BE49-F238E27FC236}">
                <a16:creationId xmlns:a16="http://schemas.microsoft.com/office/drawing/2014/main" id="{02432592-29B9-4972-91B0-C8987327EC8D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94809" y="1874056"/>
            <a:ext cx="731520" cy="73152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E494C94-E7C2-9075-5FE6-A4622A699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3428999"/>
            <a:ext cx="6815669" cy="1753744"/>
          </a:xfrm>
        </p:spPr>
        <p:txBody>
          <a:bodyPr/>
          <a:lstStyle/>
          <a:p>
            <a:br>
              <a:rPr lang="en-US" dirty="0"/>
            </a:br>
            <a:r>
              <a:rPr lang="en-US" sz="3200" b="1" dirty="0"/>
              <a:t>Customer Churn Analysis in Retail Banking with Strategic Retention Insights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969913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8D2FB-F20A-049D-348C-E3EF3B60E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857957"/>
            <a:ext cx="9601196" cy="824088"/>
          </a:xfrm>
        </p:spPr>
        <p:txBody>
          <a:bodyPr>
            <a:normAutofit/>
          </a:bodyPr>
          <a:lstStyle/>
          <a:p>
            <a:r>
              <a:rPr lang="en-IN" sz="3600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44853-4EB9-7F03-BDA6-BD966AE4F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389239"/>
            <a:ext cx="9601196" cy="3765755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churn is a critical challenge in the banking industry, as losing existing customers can significantly impact profitability and long-term growth. Understanding the factors that influence why customers leave enables banks to improve retention strategies and enhance customer satisfaction.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analyzes a publicly available Bank Customer Churn dataset obtained from Kaggle (CC0: Public Domain license). The dataset includes customer demographic information, account details, and service usage patterns.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9531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C0921-62F6-CAE1-5B02-3E903CDCD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776749"/>
            <a:ext cx="9601196" cy="73742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A12515-A0C9-2B10-ACC0-073F6C9FDF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0" y="2781251"/>
            <a:ext cx="1013951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explore and understand the structure of the bank customer churn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analyze customer demographics and account characteristics.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identify patterns and trends associated with customer churn.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compare churned vs. retained customers across key variables.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generate data-driven insights and actionable business recommendations to improve customer retention.</a:t>
            </a:r>
          </a:p>
        </p:txBody>
      </p:sp>
    </p:spTree>
    <p:extLst>
      <p:ext uri="{BB962C8B-B14F-4D97-AF65-F5344CB8AC3E}">
        <p14:creationId xmlns:p14="http://schemas.microsoft.com/office/powerpoint/2010/main" val="1320844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970F8-4B7B-8E35-2DB6-7FAFA1945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786582"/>
            <a:ext cx="9972366" cy="845574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 AND PREPARATION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BEEF8-68F8-1E1E-8911-C05E41084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387"/>
            <a:ext cx="9601196" cy="3319481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obtained from Kaggle (CC0 Public Domain license).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Overview: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No. of tables :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 : csv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Names : Churn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6105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6EA8F-10BD-0955-CECD-C7E1ED0C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610694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6A930-6FEE-A12A-BF38-CA02C4F4D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625213"/>
            <a:ext cx="9601196" cy="3250654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dataset does not contains any missing values and  duplicates.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extra spaces.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Converted CustomerId   column datatypes into object as they don’t require to calculate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262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7DA27-4FD1-7BF1-E007-B918A9BE7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807339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C92E0-3A59-33E8-9CB6-1A006EF2E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of rows : 10000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of columns : 14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types : Numerical -10 , categorical - 4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values : No null values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Duplicate rows : No duplicates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Outliers may not be removed</a:t>
            </a:r>
          </a:p>
        </p:txBody>
      </p:sp>
    </p:spTree>
    <p:extLst>
      <p:ext uri="{BB962C8B-B14F-4D97-AF65-F5344CB8AC3E}">
        <p14:creationId xmlns:p14="http://schemas.microsoft.com/office/powerpoint/2010/main" val="3767970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90E3-C43A-33A1-9274-EFF805984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709016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Outliers formulas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F2D44-1D33-86C1-7F6A-C21236B87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976284"/>
            <a:ext cx="9601196" cy="3899584"/>
          </a:xfrm>
        </p:spPr>
        <p:txBody>
          <a:bodyPr/>
          <a:lstStyle/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 = bank["Balance"].quantile(0.25)</a:t>
            </a:r>
          </a:p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Q3 = bank["Balance"].quantile(0.75)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IQR = Q3 - Q1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= Q1 - 1.5 * IQR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upper = Q3 + 1.5 * IQR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2456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F65F6-49C9-E1C5-7102-69ABFC994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532036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BF1AF-23F0-A80F-664B-BB2707B33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936955"/>
            <a:ext cx="9601196" cy="3938913"/>
          </a:xfrm>
        </p:spPr>
        <p:txBody>
          <a:bodyPr>
            <a:normAutofit fontScale="25000" lnSpcReduction="20000"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Outlier Analysis – EstimatedSalary</a:t>
            </a:r>
          </a:p>
          <a:p>
            <a:r>
              <a:rPr lang="en-US" sz="9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Outliers were detected using the </a:t>
            </a:r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Interquartile Range (IQR) method</a:t>
            </a:r>
            <a:r>
              <a:rPr lang="en-US" sz="9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9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 = 51,002.11</a:t>
            </a:r>
          </a:p>
          <a:p>
            <a:r>
              <a:rPr lang="en-US" sz="9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Q3 = 149,388.25</a:t>
            </a:r>
          </a:p>
          <a:p>
            <a:r>
              <a:rPr lang="en-US" sz="9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IQR = 98,386.14</a:t>
            </a:r>
          </a:p>
          <a:p>
            <a:r>
              <a:rPr lang="en-US" sz="9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Bound = -96,577.10</a:t>
            </a:r>
          </a:p>
          <a:p>
            <a:r>
              <a:rPr lang="en-US" sz="9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Upper Bound = 296,967.45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18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16114D-D171-6D44-6BC8-08D5033EA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497394"/>
            <a:ext cx="9601200" cy="3377944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minimum salary value is 11.58 and the maximum salary value is 199,992.48.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Since all values fall within the calculated bounds,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outliers were detected in the EstimatedSalary column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was further confirmed using a boxplot visualization, which showed no extreme points beyond the whiskers.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no outlier treatment was required for this feature.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4336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0C24-18F4-276A-F48D-2E43293E4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659855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Boxplot &amp; Histogram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69FBBE5-6FED-55D8-C1A5-30DFFF35F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60" y="2674373"/>
            <a:ext cx="5905654" cy="3071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BFA5FAB-EDBC-22DF-323E-838774A4B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3754" y="2804208"/>
            <a:ext cx="4444183" cy="3071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9219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99EDF-99AC-5869-1D61-F2A4E5638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709015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– Balance </a:t>
            </a:r>
            <a:b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220D0-BC9B-FD9F-2694-62CCECFDC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035277"/>
            <a:ext cx="9601196" cy="3840591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Descriptive Statistics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Minimum Balance: 0.00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Maximum Balance: 250,898.09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Q1: 0.00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Q3: 127,644.24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IQR: 127,644.24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first quartile (Q1) being 0.00 indicates that at least 25% of customers have zero account balance.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1528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BDE9D-8EE3-A862-8CFD-5BB796BC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809135"/>
            <a:ext cx="9601196" cy="406673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Outlier Analysis (IQR Method)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lower and upper bounds were calculated as: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Bound = -191,466.36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Upper Bound = 319,110.60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Since all observed balance values fall within this range,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statistical outliers were detected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Boxplot visualization also confirmed the absence of extreme values beyond the whiskers.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7127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A519A-ADE6-6AEA-01FB-3461B99D1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85650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E01E9-4C96-C9D1-8720-4C991CDA0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Although no outliers are present, the Balance feature shows: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large concentration of values at zero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long right tail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variability among non-zero balances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indicates a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right-skewed distribution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766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890F9-D722-83FA-7616-CAE519659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689352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04DFD-76A9-18C9-FDF5-B238463C2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Balance feature was analyzed using the IQR method. The calculated bounds (-191,466.36 to 319,110.60) indicate that no outliers are present. However, since Q1 equals 0, the distribution is highly right-skewed.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Additionally, 25% of customers have zero balance, indicating a significant portion of inactive or low-deposit accounts</a:t>
            </a:r>
            <a:r>
              <a:rPr lang="en-US" dirty="0"/>
              <a:t>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5629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E408E-6D05-4DF0-3EB5-0A3D95BD1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67952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Interpretation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45296-609D-9FD4-AB7C-985239DB8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presence of many zero-balance customers may indicate:</a:t>
            </a:r>
          </a:p>
          <a:p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Inactive or low-engagement customers</a:t>
            </a:r>
          </a:p>
          <a:p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using the account for limited purposes</a:t>
            </a:r>
          </a:p>
          <a:p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Potential churn risk behavior</a:t>
            </a:r>
          </a:p>
          <a:p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with higher balances may be more valuable</a:t>
            </a:r>
          </a:p>
          <a:p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with zero or low balances may be more likely to churn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3833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D0E8D-1AFA-1A8B-B3A6-BDB10F92B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82700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Boxplot and Histogram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0F73815-D555-1B00-04DA-294FA1B70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19" y="2576051"/>
            <a:ext cx="5191433" cy="3042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8683B9C-0DEA-89B4-2FCA-FD7D57276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150" y="2576051"/>
            <a:ext cx="4219729" cy="3042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3062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52D00-CD5E-4E31-A642-655C51746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915494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– Credit Score </a:t>
            </a:r>
            <a:b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61EC0-56F6-374B-9087-3C55714A7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035277"/>
            <a:ext cx="9601196" cy="384059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Descriptive Statistics</a:t>
            </a:r>
          </a:p>
          <a:p>
            <a:r>
              <a:rPr lang="en-US" sz="9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summary statistics for the Credit Score variable :</a:t>
            </a:r>
          </a:p>
          <a:p>
            <a:r>
              <a:rPr lang="en-US" sz="9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Minimum: 350</a:t>
            </a:r>
          </a:p>
          <a:p>
            <a:r>
              <a:rPr lang="en-US" sz="9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Maximum: 850</a:t>
            </a:r>
          </a:p>
          <a:p>
            <a:r>
              <a:rPr lang="en-US" sz="9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 (25th percentile): 584</a:t>
            </a:r>
          </a:p>
          <a:p>
            <a:r>
              <a:rPr lang="en-US" sz="9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Q3 (75th percentile): 718</a:t>
            </a:r>
          </a:p>
          <a:p>
            <a:r>
              <a:rPr lang="en-US" sz="9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IQR: 134</a:t>
            </a:r>
          </a:p>
          <a:p>
            <a:r>
              <a:rPr lang="en-US" sz="9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credit scores range from 350 to 850, which aligns with the standard credit scoring scale (300–850).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1583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36FC6-F3BE-85FF-EAF4-CD57CC8FB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758178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Outlier Analysis (IQR Method)</a:t>
            </a:r>
            <a:b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FCA3E1-8F77-6829-42AA-3B9166E995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202426"/>
                <a:ext cx="9601196" cy="3673442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𝐼𝑄𝑅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1=718−584=134</m:t>
                    </m:r>
                  </m:oMath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2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Lower Bound = 383</a:t>
                </a:r>
              </a:p>
              <a:p>
                <a:r>
                  <a:rPr lang="en-US" sz="2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Upper Bound = 919</a:t>
                </a:r>
              </a:p>
              <a:p>
                <a:r>
                  <a:rPr lang="en-US" sz="2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Observations below 383 are considered lower-bound outliers.</a:t>
                </a:r>
              </a:p>
              <a:p>
                <a:r>
                  <a:rPr lang="en-US" sz="2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dataset contains values as low as 350, which fall below the lower threshold. Therefore, lower-bound outliers are present. No upper-bound outliers were detected, as the maximum value (850) is within the calculated limit.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FCA3E1-8F77-6829-42AA-3B9166E995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202426"/>
                <a:ext cx="9601196" cy="3673442"/>
              </a:xfrm>
              <a:blipFill>
                <a:blip r:embed="rId2"/>
                <a:stretch>
                  <a:fillRect l="-1144" r="-1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9871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8246B-D1A0-0C3F-C290-A6E2A8FDB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76801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Interpretation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D6A52-C057-4FD7-05BE-356868023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Although the IQR method flags some lower credit scores as outliers, these values are not data errors. Credit scores typically range between 300 and 850; therefore, scores such as 350 represent valid but extreme financial risk profiles rather than anomalies.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extreme values may carry important business significance, as customers with very low credit scores may demonstrate different churn behavior compared to customers with higher scores.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8797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89938-C502-086A-4908-1B97FAD3C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94499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4.Conclusion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23522-3B30-11C1-10F8-0C08A6F2B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CreditScore feature contains statistically identified lower-bound outliers; however, these values fall within the legitimate range of credit scoring. Consequently, no outlier removal was performed.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131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40D89-42A2-5D44-1C41-2200B9C44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846668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Boxplot and Histogram</a:t>
            </a:r>
            <a:endParaRPr lang="en-IN" sz="36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6523362-3079-2945-0157-3CA291891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450" y="2703870"/>
            <a:ext cx="5433705" cy="2983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AA4FAC52-E50C-9CDF-9E9A-209C05EF8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3921" y="2601554"/>
            <a:ext cx="4424518" cy="3274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7642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25781-7DAB-DC77-4684-0E88499BE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994152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– Age</a:t>
            </a:r>
            <a:b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2AD13-4E58-B0B3-33F6-FB2A69611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🔹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Descriptive Statistics</a:t>
            </a:r>
            <a:endParaRPr lang="en-US" b="1" dirty="0"/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 = 32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Q3 = 44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 = 18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 = 92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2312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7F54F-DD4B-3D38-2EA4-D4B523100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581197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Outlier Analysis (IQR Method)</a:t>
            </a:r>
            <a:b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76B3EC-8241-12EE-A26F-2F9725EF75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1730477"/>
                <a:ext cx="9601196" cy="4522839"/>
              </a:xfrm>
            </p:spPr>
            <p:txBody>
              <a:bodyPr>
                <a:normAutofit fontScale="40000" lnSpcReduction="20000"/>
              </a:bodyPr>
              <a:lstStyle/>
              <a:p>
                <a:pPr marL="0" indent="0">
                  <a:buNone/>
                </a:pPr>
                <a:endParaRPr lang="en-IN" b="1" dirty="0"/>
              </a:p>
              <a:p>
                <a14:m>
                  <m:oMath xmlns:m="http://schemas.openxmlformats.org/officeDocument/2006/math">
                    <m:r>
                      <a:rPr lang="en-IN" sz="6000" i="1">
                        <a:latin typeface="Cambria Math" panose="02040503050406030204" pitchFamily="18" charset="0"/>
                      </a:rPr>
                      <m:t>𝐼𝑄𝑅</m:t>
                    </m:r>
                    <m:r>
                      <a:rPr lang="en-IN" sz="6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60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6000">
                        <a:latin typeface="Cambria Math" panose="02040503050406030204" pitchFamily="18" charset="0"/>
                      </a:rPr>
                      <m:t>3−</m:t>
                    </m:r>
                    <m:r>
                      <a:rPr lang="en-IN" sz="60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6000">
                        <a:latin typeface="Cambria Math" panose="02040503050406030204" pitchFamily="18" charset="0"/>
                      </a:rPr>
                      <m:t>1=44−32=12</m:t>
                    </m:r>
                  </m:oMath>
                </a14:m>
                <a:endParaRPr lang="en-IN" sz="6000" dirty="0"/>
              </a:p>
              <a:p>
                <a:pPr marL="0" indent="0">
                  <a:buNone/>
                </a:pPr>
                <a:r>
                  <a:rPr lang="en-IN" sz="7400" b="1" dirty="0"/>
                  <a:t>  </a:t>
                </a:r>
                <a:r>
                  <a:rPr lang="en-IN" sz="6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Calculate 1.5 × IQR</a:t>
                </a:r>
              </a:p>
              <a:p>
                <a14:m>
                  <m:oMath xmlns:m="http://schemas.openxmlformats.org/officeDocument/2006/math">
                    <m:r>
                      <a:rPr lang="en-IN" sz="7400">
                        <a:latin typeface="Cambria Math" panose="02040503050406030204" pitchFamily="18" charset="0"/>
                      </a:rPr>
                      <m:t>1.5×12=18</m:t>
                    </m:r>
                  </m:oMath>
                </a14:m>
                <a:endParaRPr lang="en-IN" sz="7400" dirty="0"/>
              </a:p>
              <a:p>
                <a:pPr marL="0" indent="0">
                  <a:buNone/>
                </a:pPr>
                <a:r>
                  <a:rPr lang="en-IN" b="1" dirty="0"/>
                  <a:t>   </a:t>
                </a:r>
                <a:r>
                  <a:rPr lang="en-IN" sz="6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Calculate Lower and Upper Bounds</a:t>
                </a:r>
              </a:p>
              <a:p>
                <a:r>
                  <a:rPr lang="en-IN" sz="6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Lower Bound</a:t>
                </a:r>
                <a:r>
                  <a:rPr lang="en-IN" sz="6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= Q1 − 1.5 × IQR</a:t>
                </a:r>
              </a:p>
              <a:p>
                <a14:m>
                  <m:oMath xmlns:m="http://schemas.openxmlformats.org/officeDocument/2006/math">
                    <m:r>
                      <a:rPr lang="en-IN" sz="6000">
                        <a:latin typeface="Cambria Math" panose="02040503050406030204" pitchFamily="18" charset="0"/>
                      </a:rPr>
                      <m:t>32−18=14</m:t>
                    </m:r>
                  </m:oMath>
                </a14:m>
                <a:endParaRPr lang="en-IN" sz="6000" dirty="0"/>
              </a:p>
              <a:p>
                <a:r>
                  <a:rPr lang="en-IN" sz="6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Upper Bound</a:t>
                </a:r>
                <a:r>
                  <a:rPr lang="en-IN" sz="6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= Q3 + 1.5 × IQR</a:t>
                </a:r>
              </a:p>
              <a:p>
                <a14:m>
                  <m:oMath xmlns:m="http://schemas.openxmlformats.org/officeDocument/2006/math">
                    <m:r>
                      <a:rPr lang="en-IN" sz="6000">
                        <a:latin typeface="Cambria Math" panose="02040503050406030204" pitchFamily="18" charset="0"/>
                      </a:rPr>
                      <m:t>44+18=62</m:t>
                    </m:r>
                  </m:oMath>
                </a14:m>
                <a:endParaRPr lang="en-IN" sz="6000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76B3EC-8241-12EE-A26F-2F9725EF75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1730477"/>
                <a:ext cx="9601196" cy="4522839"/>
              </a:xfrm>
              <a:blipFill>
                <a:blip r:embed="rId2"/>
                <a:stretch>
                  <a:fillRect l="-11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25594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265E5-7699-BBCA-C94A-75D8F1D5B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915494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Interpretation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6BB05-F16A-6796-451C-00176FEB5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 Feature: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Age feature ranges from 18 to 92, with Q1 = 32 and Q3 = 44 (IQR = 12). Using the IQR method, the lower bound is 14 and the upper bound is 62. Statistical outliers exist for customers aged above 62. No lower-bound outliers were detected. These extreme ages represent valid observations and were retained, as older customers may exhibit distinct churn patterns.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350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33D64-29F6-ED37-976E-44D3A35F8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915494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4.Conclusion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C68AF-5953-18D3-E08A-F5D5E9F2A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Upper outliers present: Customers with age above 62 (e.g., 63–92) are considered outliers statistically.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outliers: None (minimum age 18 &gt; 14).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“outliers” here are not errors, just older customers.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churn analysis, age extremes may behave differently, so you should retain them.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4772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2666A-3ACF-EBA0-E09D-850CDFA68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915494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Boxplot and Histogram</a:t>
            </a:r>
            <a:endParaRPr lang="en-IN" sz="36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B95B0B3-CF4C-4DF5-BFE0-403792FA8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60" y="2713703"/>
            <a:ext cx="5279923" cy="2894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7B8FC0C4-A7FE-B725-F0CE-3B2284A14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612" y="2905432"/>
            <a:ext cx="3590772" cy="2742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673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3BA4E-06C9-9D76-2F7F-4ED7C901C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81717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– NumOfProducts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A951C-EAF4-4ADD-DEAA-94F4D2965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Descriptive Statistics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 = 1.0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Q3 = 2.0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 = 1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 = 4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0888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A274D-EA00-D41D-CD35-E47936578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728681"/>
          </a:xfrm>
        </p:spPr>
        <p:txBody>
          <a:bodyPr>
            <a:noAutofit/>
          </a:bodyPr>
          <a:lstStyle/>
          <a:p>
            <a:b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Outlier Analysis (IQR Method)</a:t>
            </a:r>
            <a:b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307C18-D208-4AB2-4050-95F03EA7DF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084439"/>
                <a:ext cx="9601196" cy="379142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b="1" dirty="0"/>
                  <a:t>   </a:t>
                </a:r>
                <a14:m>
                  <m:oMath xmlns:m="http://schemas.openxmlformats.org/officeDocument/2006/math">
                    <m:r>
                      <a:rPr lang="en-IN" b="1" i="0">
                        <a:latin typeface="Cambria Math" panose="02040503050406030204" pitchFamily="18" charset="0"/>
                      </a:rPr>
                      <m:t>𝐈𝐐𝐑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3− 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1=2.0−1.0=1.0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US" b="1" dirty="0"/>
                  <a:t>   </a:t>
                </a:r>
                <a:r>
                  <a:rPr lang="en-US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Calculate 1.5 × IQR</a:t>
                </a:r>
              </a:p>
              <a:p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1.5×1.0=1.5</m:t>
                    </m:r>
                  </m:oMath>
                </a14:m>
                <a:endParaRPr lang="en-U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Lower Bound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= Q1 − 1.5 × IQR</a:t>
                </a:r>
              </a:p>
              <a:p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1.0−1.5=−0.5</m:t>
                    </m:r>
                  </m:oMath>
                </a14:m>
                <a:endParaRPr lang="en-US" dirty="0"/>
              </a:p>
              <a:p>
                <a:r>
                  <a:rPr lang="en-US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Upper Bound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= Q3 + 1.5 × IQR</a:t>
                </a:r>
              </a:p>
              <a:p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2.0+1.5=3.5</m:t>
                    </m:r>
                  </m:oMath>
                </a14:m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307C18-D208-4AB2-4050-95F03EA7DF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084439"/>
                <a:ext cx="9601196" cy="3791429"/>
              </a:xfrm>
              <a:blipFill>
                <a:blip r:embed="rId2"/>
                <a:stretch>
                  <a:fillRect l="-11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20197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5F22A-2156-1096-D347-D2BAC2D6E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777842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40E58-E9B0-FCE5-A517-415AFA123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NumOfProducts Feature: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number of products held by customers ranges from 1 to 4, with Q1 = 1 and Q3 = 2 (IQR = 1). The lower bound is −0.5 and the upper bound is 3.5 based on the IQR method. Statistically, customers with 4 products are identified as upper-bound outliers. These values represent valid, highly engaged customers and were retained in the dataset for analysis.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439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E9370-D272-3C11-98F4-1F3FCCD36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817171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B1344-642A-1750-4AB8-8035EF570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Upper outliers present: Customers with 4 products are statistically upper-bound outliers.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outliers: None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customer having 4 products is a valid and important observation.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customers may be highly engaged or less likely to churn, so these “outliers” should not be removed.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154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6642B-7098-71E7-9458-5010916F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846668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Boxplot and Histogram</a:t>
            </a:r>
            <a:endParaRPr lang="en-IN" sz="36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DC3B107-B046-27EB-C541-586A95C40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936" y="2882867"/>
            <a:ext cx="5506064" cy="299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C422B01B-8028-AA00-EA74-80F2A38A3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794" y="2598192"/>
            <a:ext cx="4086532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09385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F71A0-381A-10B3-7707-896242661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600862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Conclusion</a:t>
            </a:r>
            <a:b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D4CA8-E9F4-8E61-DC87-A72A8A61C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907458"/>
            <a:ext cx="9601196" cy="4109884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EstimatedSalary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No outliers detected; stable distribution.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No outliers, but highly right-skewed with many zero-balance customers.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CreditScore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Contains lower-bound outliers, but all are valid scores.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Upper-bound outliers present, representing older customers.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NumOfProducts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Upper-bound outliers represent highly engaged customers.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outlier removal was performed, as all extreme values are legitimate and potentially informative for churn prediction modeling.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21437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263F6-9C91-AD30-3013-273535C8E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88258"/>
            <a:ext cx="9601196" cy="658761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INSIGHTS&amp; RECOMMENDATIONS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F77FB-7BD6-E871-14AA-32651BA48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713702"/>
            <a:ext cx="9601196" cy="3156155"/>
          </a:xfrm>
        </p:spPr>
        <p:txBody>
          <a:bodyPr>
            <a:norm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you can see  in churn by age  bar chart mostly 40 age group people are  exited from banks and 0-20 and 60-80 age group people are likely to stay with the banks.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the visual of churn by balance we can observe that mostly customers who are maintaining medium balance(50000 -150000) are exited and  who are maintaining high, low and zero  balances are less likely to be churned from the bank.</a:t>
            </a:r>
          </a:p>
          <a:p>
            <a:pPr marL="0" indent="0">
              <a:buNone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7928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F7C97-DDE5-54F0-7E8F-E3C023891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802194"/>
            <a:ext cx="9601196" cy="3073674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According to churn by gender visual nearly 55.92% females are exited from the bank.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Mostly Spain location customers are churned.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84134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1661-CFA1-BD1F-2BAF-2DB46D454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78425"/>
            <a:ext cx="9601196" cy="570271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65E0ECF-12A0-AEB8-6514-FFAE117B61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6245" y="1465008"/>
            <a:ext cx="10776155" cy="457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8586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F38B61-9D94-6551-56AC-F511D0B714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5910" y="580103"/>
            <a:ext cx="10677832" cy="547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0922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Custom 46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FF9900"/>
      </a:accent2>
      <a:accent3>
        <a:srgbClr val="DD8C3C"/>
      </a:accent3>
      <a:accent4>
        <a:srgbClr val="8E684C"/>
      </a:accent4>
      <a:accent5>
        <a:srgbClr val="CBAF62"/>
      </a:accent5>
      <a:accent6>
        <a:srgbClr val="33CCCC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524312_Recreation Organic design_SL-V1.pptx" id="{F71A86FF-49A3-4B67-A125-11EA00B3A17C}" vid="{EA83300D-506E-4894-9D32-3B71A0743C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0C6F0FA-5858-4AD1-8F89-D32310719A5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75A39CB-C45B-4F08-829C-AB9550EE08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92F16A-38EE-4C9D-AFD3-2845EC2D90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Recreation design</Template>
  <TotalTime>724</TotalTime>
  <Words>1506</Words>
  <Application>Microsoft Office PowerPoint</Application>
  <PresentationFormat>Widescreen</PresentationFormat>
  <Paragraphs>168</Paragraphs>
  <Slides>36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Cambria Math</vt:lpstr>
      <vt:lpstr>Garamond</vt:lpstr>
      <vt:lpstr>Organic</vt:lpstr>
      <vt:lpstr> Customer Churn Analysis in Retail Banking with Strategic Retention Insights</vt:lpstr>
      <vt:lpstr>Introduction</vt:lpstr>
      <vt:lpstr>Objective</vt:lpstr>
      <vt:lpstr>DATA COLLECTION AND PREPARATION</vt:lpstr>
      <vt:lpstr>Data cleaning</vt:lpstr>
      <vt:lpstr>Basic EDA</vt:lpstr>
      <vt:lpstr>Outliers formulas</vt:lpstr>
      <vt:lpstr>Outliers</vt:lpstr>
      <vt:lpstr>PowerPoint Presentation</vt:lpstr>
      <vt:lpstr>Boxplot &amp; Histogram</vt:lpstr>
      <vt:lpstr> Exploratory Data Analysis – Balance  </vt:lpstr>
      <vt:lpstr>PowerPoint Presentation</vt:lpstr>
      <vt:lpstr>3.Interpretation</vt:lpstr>
      <vt:lpstr>4.Conclusion</vt:lpstr>
      <vt:lpstr>Business Interpretation</vt:lpstr>
      <vt:lpstr>Boxplot and Histogram</vt:lpstr>
      <vt:lpstr> Exploratory Data Analysis – Credit Score  </vt:lpstr>
      <vt:lpstr> 2. Outlier Analysis (IQR Method) </vt:lpstr>
      <vt:lpstr>3. Interpretation</vt:lpstr>
      <vt:lpstr>4.Conclusion</vt:lpstr>
      <vt:lpstr>Boxplot and Histogram</vt:lpstr>
      <vt:lpstr> Exploratory Data Analysis – Age </vt:lpstr>
      <vt:lpstr> 2. Outlier Analysis (IQR Method) </vt:lpstr>
      <vt:lpstr>3. Interpretation</vt:lpstr>
      <vt:lpstr>4.Conclusion</vt:lpstr>
      <vt:lpstr>Boxplot and Histogram</vt:lpstr>
      <vt:lpstr>Exploratory Data Analysis – NumOfProducts</vt:lpstr>
      <vt:lpstr> 2. Outlier Analysis (IQR Method) </vt:lpstr>
      <vt:lpstr>3.Interpretation</vt:lpstr>
      <vt:lpstr>4.Conclusion</vt:lpstr>
      <vt:lpstr>Boxplot and Histogram</vt:lpstr>
      <vt:lpstr> Overall Conclusion </vt:lpstr>
      <vt:lpstr>KEY INSIGHTS&amp; RECOMMENDATIONS</vt:lpstr>
      <vt:lpstr>PowerPoint Presentation</vt:lpstr>
      <vt:lpstr>Dashboard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 SHAHINA</dc:creator>
  <cp:lastModifiedBy>SHAIK SHAHINA</cp:lastModifiedBy>
  <cp:revision>7</cp:revision>
  <dcterms:created xsi:type="dcterms:W3CDTF">2026-02-28T13:09:46Z</dcterms:created>
  <dcterms:modified xsi:type="dcterms:W3CDTF">2026-03-05T14:18:02Z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